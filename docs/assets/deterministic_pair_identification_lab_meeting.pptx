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Deterministic Identification of A, B from Mixed EBSD Pattern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4748B"/>
                </a:solidFill>
              </a:rPr>
              <a:t>Non-ML baseline for pair discovery and mixing-fraction inversion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F2937"/>
                </a:solidFill>
              </a:defRPr>
            </a:pPr>
            <a:r>
              <a:t>Objective: From candidate bank {P_k} and observed mixed pattern C, find the contributing pair (A,B) and fraction x.</a:t>
            </a:r>
          </a:p>
          <a:p>
            <a:pPr>
              <a:spcAft>
                <a:spcPts val="1000"/>
              </a:spcAft>
              <a:defRPr sz="2400">
                <a:solidFill>
                  <a:srgbClr val="1F2937"/>
                </a:solidFill>
              </a:defRPr>
            </a:pPr>
            <a:r>
              <a:t>Model: C_hat_ij(x) = x P_i + (1-x) P_j, with x in [0,1].</a:t>
            </a:r>
          </a:p>
          <a:p>
            <a:pPr>
              <a:spcAft>
                <a:spcPts val="1000"/>
              </a:spcAft>
              <a:defRPr sz="2400">
                <a:solidFill>
                  <a:srgbClr val="1F2937"/>
                </a:solidFill>
              </a:defRPr>
            </a:pPr>
            <a:r>
              <a:t>Primary score: NCC; tie-break: minimum L2.</a:t>
            </a:r>
          </a:p>
          <a:p>
            <a:pPr>
              <a:spcAft>
                <a:spcPts val="1000"/>
              </a:spcAft>
              <a:defRPr sz="2400">
                <a:solidFill>
                  <a:srgbClr val="1F2937"/>
                </a:solidFill>
              </a:defRPr>
            </a:pPr>
            <a:r>
              <a:t>Search strategy: two-stage (coarse all-pairs screening + refined top-M evaluation).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DeepImageDeconvolution | Deterministic baseline (lab meeting draft)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Candidate bank: {P_k}, k = 1..n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Unique unordered pair set: U = {(i,j) | i &lt; j},  |U| = n(n-1)/2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Per pair inversion: x*_ij = argmax_x NCC(C_hat_ij(x), C)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Global selection: (i*,j*) = argmax_(i,j in U_M) S_ij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Score: S_ij = NCC(T*_ij(C_hat_ij(x*_ij)), 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554480"/>
            <a:ext cx="49377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40AF"/>
                </a:solidFill>
              </a:defRPr>
            </a:pPr>
            <a:r>
              <a:t>C_hat_ij(x) = x P_i + (1-x) P_j</a:t>
            </a:r>
          </a:p>
          <a:p>
            <a:pPr>
              <a:defRPr sz="2000">
                <a:solidFill>
                  <a:srgbClr val="1E40AF"/>
                </a:solidFill>
              </a:defRPr>
            </a:pPr>
            <a:r>
              <a:t>x in [0,1]</a:t>
            </a:r>
          </a:p>
          <a:p>
            <a:pPr>
              <a:defRPr sz="800">
                <a:solidFill>
                  <a:srgbClr val="1F2937"/>
                </a:solidFill>
              </a:defRPr>
            </a:pP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NCC(U,V) =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  sum[(U-mean(U))(V-mean(V))] /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  (||U-mean(U)|| ||V-mean(V)||)</a:t>
            </a:r>
          </a:p>
          <a:p>
            <a:pPr>
              <a:defRPr sz="800">
                <a:solidFill>
                  <a:srgbClr val="1F2937"/>
                </a:solidFill>
              </a:defRPr>
            </a:pP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L2(U,V) = (1/|M|) sum_{p in M}(U_p - V_p)^2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Algorithm (Implemented Workflow)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1) Enumerate all unique unordered pairs (i,j), i&lt;j.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2) Stage-1 coarse search: fast x-grid for every pair; rank by NCC (L2 tie-break).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3) Keep top-M pairs (configurable, e.g., M=20).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4) Stage-2 refine: fine x-search + optional rigid alignment T(theta, dy, dx).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5) Re-estimate x with alignment fixed and compute final scores.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6) Return winner pair (A*,B*), x*, top-k list, alignment parameters, confidence margin.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Publication Schematic of Core Algorithm</a:t>
            </a:r>
          </a:p>
        </p:txBody>
      </p:sp>
      <p:pic>
        <p:nvPicPr>
          <p:cNvPr id="3" name="Picture 2" descr="deterministic_pair_identification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11201400" cy="72809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Figure: candidate pair generation, two-stage scoring, rigid alignment refinement, and final (A,B,x)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Current Conclusions from Deterministic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937"/>
                </a:solidFill>
              </a:defRPr>
            </a:pPr>
            <a:r>
              <a:t>The inverse problem is tractable with explicit physics-style mixing C_hat(x)=xA+(1-x)B.</a:t>
            </a:r>
          </a:p>
          <a:p>
            <a:pPr>
              <a:spcAft>
                <a:spcPts val="1000"/>
              </a:spcAft>
              <a:defRPr sz="2300">
                <a:solidFill>
                  <a:srgbClr val="1F2937"/>
                </a:solidFill>
              </a:defRPr>
            </a:pPr>
            <a:r>
              <a:t>NCC is robust as primary ranking metric; L2 improves deterministic tie resolution.</a:t>
            </a:r>
          </a:p>
          <a:p>
            <a:pPr>
              <a:spcAft>
                <a:spcPts val="1000"/>
              </a:spcAft>
              <a:defRPr sz="2300">
                <a:solidFill>
                  <a:srgbClr val="1F2937"/>
                </a:solidFill>
              </a:defRPr>
            </a:pPr>
            <a:r>
              <a:t>Two-stage search reduces runtime while preserving ranking quality.</a:t>
            </a:r>
          </a:p>
          <a:p>
            <a:pPr>
              <a:spcAft>
                <a:spcPts val="1000"/>
              </a:spcAft>
              <a:defRPr sz="2300">
                <a:solidFill>
                  <a:srgbClr val="1F2937"/>
                </a:solidFill>
              </a:defRPr>
            </a:pPr>
            <a:r>
              <a:t>Rigid alignment (small rotation + translation) improves resilience to geometric mismatch.</a:t>
            </a:r>
          </a:p>
          <a:p>
            <a:pPr>
              <a:spcAft>
                <a:spcPts val="1000"/>
              </a:spcAft>
              <a:defRPr sz="2300">
                <a:solidFill>
                  <a:srgbClr val="1F2937"/>
                </a:solidFill>
              </a:defRPr>
            </a:pPr>
            <a:r>
              <a:t>Outputs are explainable: winner pair, x*, top-k alternatives, and confidence margins.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Work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937"/>
                </a:solidFill>
              </a:defRPr>
            </a:pPr>
            <a:r>
              <a:t>A) Validate on real convoluted EBSD patterns (not only synthetic mixtures).</a:t>
            </a:r>
          </a:p>
          <a:p>
            <a:pPr>
              <a:spcAft>
                <a:spcPts val="1000"/>
              </a:spcAft>
              <a:defRPr sz="2300">
                <a:solidFill>
                  <a:srgbClr val="1F2937"/>
                </a:solidFill>
              </a:defRPr>
            </a:pPr>
            <a:r>
              <a:t>B) Automate candidate-bank selection for arbitrary pattern locations in a full EBSD scan.</a:t>
            </a:r>
          </a:p>
          <a:p>
            <a:pPr>
              <a:spcAft>
                <a:spcPts val="1000"/>
              </a:spcAft>
              <a:defRPr sz="2300">
                <a:solidFill>
                  <a:srgbClr val="1F2937"/>
                </a:solidFill>
              </a:defRPr>
            </a:pPr>
            <a:r>
              <a:t>Target capability: given any scan pixel C(x,y), auto-propose local physically-plausible candidates.</a:t>
            </a:r>
          </a:p>
          <a:p>
            <a:pPr>
              <a:spcAft>
                <a:spcPts val="1000"/>
              </a:spcAft>
              <a:defRPr sz="2300">
                <a:solidFill>
                  <a:srgbClr val="1F2937"/>
                </a:solidFill>
              </a:defRPr>
            </a:pPr>
            <a:r>
              <a:t>Then run the same deterministic ranking pipeline to estimate pair identity and mixing fraction map.</a:t>
            </a:r>
          </a:p>
          <a:p>
            <a:pPr>
              <a:spcAft>
                <a:spcPts val="1000"/>
              </a:spcAft>
              <a:defRPr sz="2300">
                <a:solidFill>
                  <a:srgbClr val="1F2937"/>
                </a:solidFill>
              </a:defRPr>
            </a:pPr>
            <a:r>
              <a:t>Integrate confidence-aware outputs for boundary-region interpretation and downstream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